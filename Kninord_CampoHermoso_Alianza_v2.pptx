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2.xml"/>
  <Override ContentType="application/vnd.openxmlformats-officedocument.theme+xml" PartName="/ppt/theme/theme1.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5143500" cx="9144000"/>
  <p:notesSz cx="5143500" cy="9144000"/>
  <p:defaultTextStyle>
    <a:defPPr lvl="0"/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2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?>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2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962A"/>
          </a:solidFill>
          <a:ln w="12700">
            <a:solidFill>
              <a:srgbClr val="C896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KNINORD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365760" y="14630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spc="500" kern="0" dirty="0">
                <a:solidFill>
                  <a:srgbClr val="C896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ANIMAL TRAINING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2057400"/>
            <a:ext cx="5029200" cy="36576"/>
          </a:xfrm>
          <a:prstGeom prst="rect">
            <a:avLst/>
          </a:prstGeom>
          <a:solidFill>
            <a:srgbClr val="C8962A"/>
          </a:solidFill>
          <a:ln w="12700">
            <a:solidFill>
              <a:srgbClr val="C896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1945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Alianza Estratégica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8C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Agroveterinaria Campo Hermoso · Bonao, R.D.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41148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8C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Guillermo Emigdio Miniño Álvarez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A8C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Adiestrador Profesional de Animales · Bonao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D2E"/>
          </a:solidFill>
          <a:ln w="12700">
            <a:solidFill>
              <a:srgbClr val="1B4D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¿Quién soy?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114800" cy="3383280"/>
          </a:xfrm>
          <a:prstGeom prst="rect">
            <a:avLst/>
          </a:prstGeom>
          <a:solidFill>
            <a:srgbClr val="E8F5EC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234440"/>
            <a:ext cx="91440" cy="3383280"/>
          </a:xfrm>
          <a:prstGeom prst="rect">
            <a:avLst/>
          </a:prstGeom>
          <a:solidFill>
            <a:srgbClr val="2D7A4F"/>
          </a:solidFill>
          <a:ln w="12700">
            <a:solidFill>
              <a:srgbClr val="2D7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716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4D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Guillermo Miniño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1920240"/>
            <a:ext cx="3749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2E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años de experiencia en adiestramiento animal</a:t>
            </a:r>
            <a:endParaRPr lang="en-US" sz="1300" dirty="0"/>
          </a:p>
          <a:p>
            <a:pPr algn="l"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2E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KNINORD — probada en campo</a:t>
            </a:r>
            <a:endParaRPr lang="en-US" sz="1300" dirty="0"/>
          </a:p>
          <a:p>
            <a:pPr algn="l"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2E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Especialista multi-especie: perros, équidos, aves, porcinos, caprinos</a:t>
            </a:r>
            <a:endParaRPr lang="en-US" sz="1300" dirty="0"/>
          </a:p>
          <a:p>
            <a:pPr algn="l"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2E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Radicado en Bonao — Villa Soñador</a:t>
            </a:r>
            <a:endParaRPr lang="en-US" sz="1300" dirty="0"/>
          </a:p>
          <a:p>
            <a:pPr algn="l"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2E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 en producción cinematográfica animal (R.D.)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234440"/>
            <a:ext cx="4069080" cy="3383280"/>
          </a:xfrm>
          <a:prstGeom prst="rect">
            <a:avLst/>
          </a:prstGeom>
          <a:solidFill>
            <a:srgbClr val="E8F5EC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9160" y="1234440"/>
            <a:ext cx="91440" cy="3383280"/>
          </a:xfrm>
          <a:prstGeom prst="rect">
            <a:avLst/>
          </a:prstGeom>
          <a:solidFill>
            <a:srgbClr val="C8962A"/>
          </a:solidFill>
          <a:ln w="12700">
            <a:solidFill>
              <a:srgbClr val="C896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371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B4D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 enfoque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37760" y="192024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2E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Bienestar animal como base de todo proceso</a:t>
            </a:r>
            <a:endParaRPr lang="en-US" sz="1300" dirty="0"/>
          </a:p>
          <a:p>
            <a:pPr algn="l"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2E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sin violencia — refuerzo positivo y neurociencia conductual</a:t>
            </a:r>
            <a:endParaRPr lang="en-US" sz="1300" dirty="0"/>
          </a:p>
          <a:p>
            <a:pPr algn="l"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2E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documentados y replicables</a:t>
            </a:r>
            <a:endParaRPr lang="en-US" sz="1300" dirty="0"/>
          </a:p>
          <a:p>
            <a:pPr algn="l"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2E4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Educación al propietario integrada al proceso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D7A4F"/>
          </a:solidFill>
          <a:ln w="12700">
            <a:solidFill>
              <a:srgbClr val="2D7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 Propuesta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alianza natural entre dos profesionales del bienestar animal.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783080"/>
            <a:ext cx="2743200" cy="3017520"/>
          </a:xfrm>
          <a:prstGeom prst="rect">
            <a:avLst/>
          </a:prstGeom>
          <a:solidFill>
            <a:srgbClr val="1B4D2E"/>
          </a:solidFill>
          <a:ln w="12700">
            <a:solidFill>
              <a:srgbClr val="1B4D2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8745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🤝  Referidos Mutuos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2487168"/>
            <a:ext cx="228600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606040"/>
            <a:ext cx="248716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Ustedes refieren a Kninord los clientes que necesiten adiestramiento.</a:t>
            </a:r>
            <a:endParaRPr lang="en-US" sz="12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 refiero a Campo Hermoso los clientes que necesiten productos veterinarios o agropecuarios.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783080"/>
            <a:ext cx="2743200" cy="3017520"/>
          </a:xfrm>
          <a:prstGeom prst="rect">
            <a:avLst/>
          </a:prstGeom>
          <a:solidFill>
            <a:srgbClr val="2D7A4F"/>
          </a:solidFill>
          <a:ln w="12700">
            <a:solidFill>
              <a:srgbClr val="2D7A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83280" y="18745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 Sin Costo · Sin Riesgo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383280" y="2487168"/>
            <a:ext cx="228600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2606040"/>
            <a:ext cx="248716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requiere inversión de su parte. Solo comunicación. El cliente gana, ustedes ganan reputación de servicio integral, yo gano confianza local.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783080"/>
            <a:ext cx="2743200" cy="3017520"/>
          </a:xfrm>
          <a:prstGeom prst="rect">
            <a:avLst/>
          </a:prstGeom>
          <a:solidFill>
            <a:srgbClr val="C8962A"/>
          </a:solidFill>
          <a:ln w="12700">
            <a:solidFill>
              <a:srgbClr val="C896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63640" y="187452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📍  Mercado Local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63640" y="2487168"/>
            <a:ext cx="228600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2606040"/>
            <a:ext cx="2487168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Bonao tiene demanda creciente de adiestramiento profesional. Hasta hoy no hay oferta seria y local. Juntos cubrimos ese espacio.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4D2E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"/>
          <p:cNvSpPr/>
          <p:nvPr/>
        </p:nvSpPr>
        <p:spPr>
          <a:xfrm>
            <a:off x="0" y="0"/>
            <a:ext cx="164700" cy="5143500"/>
          </a:xfrm>
          <a:prstGeom prst="rect">
            <a:avLst/>
          </a:prstGeom>
          <a:solidFill>
            <a:srgbClr val="C8962A"/>
          </a:solidFill>
          <a:ln cap="flat" cmpd="sng" w="12700">
            <a:solidFill>
              <a:srgbClr val="C896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457200" y="640080"/>
            <a:ext cx="77724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Trebuchet MS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Conversemos.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457200" y="1645920"/>
            <a:ext cx="77724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9B4"/>
              </a:buClr>
              <a:buSzPts val="1700"/>
              <a:buFont typeface="Calibri"/>
              <a:buNone/>
            </a:pPr>
            <a:r>
              <a:rPr b="0" i="1" lang="en-US" sz="1700" u="none" cap="none" strike="noStrike">
                <a:solidFill>
                  <a:srgbClr val="A8C9B4"/>
                </a:solidFill>
                <a:latin typeface="Calibri"/>
                <a:ea typeface="Calibri"/>
                <a:cs typeface="Calibri"/>
                <a:sym typeface="Calibri"/>
              </a:rPr>
              <a:t>Una reunión de 20 minutos puede ser el inicio de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9B4"/>
              </a:buClr>
              <a:buSzPts val="1700"/>
              <a:buFont typeface="Calibri"/>
              <a:buNone/>
            </a:pPr>
            <a:r>
              <a:rPr b="0" i="1" lang="en-US" sz="1700" u="none" cap="none" strike="noStrike">
                <a:solidFill>
                  <a:srgbClr val="A8C9B4"/>
                </a:solidFill>
                <a:latin typeface="Calibri"/>
                <a:ea typeface="Calibri"/>
                <a:cs typeface="Calibri"/>
                <a:sym typeface="Calibri"/>
              </a:rPr>
              <a:t>una alianza que sirva a toda la comunidad de Bonao.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457200" y="2697480"/>
            <a:ext cx="5486400" cy="36600"/>
          </a:xfrm>
          <a:prstGeom prst="rect">
            <a:avLst/>
          </a:prstGeom>
          <a:solidFill>
            <a:srgbClr val="C8962A"/>
          </a:solidFill>
          <a:ln cap="flat" cmpd="sng" w="12700">
            <a:solidFill>
              <a:srgbClr val="C896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457200" y="2880345"/>
            <a:ext cx="73152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Guillermo Emigdio Miniño Álvarez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Kninord Animal Training  ·  Villa Soñador, Bonao</a:t>
            </a:r>
            <a:endParaRPr b="0" i="0" sz="15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📞  829 917 2447</a:t>
            </a: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Calibri"/>
              </a:rPr>
              <a:t>💬  WhatsApp: (809) 729-4827</a:t>
            </a: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Calibri"/>
              </a:rPr>
              <a:t>📘  Facebook: @gminino</a:t>
            </a: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Calibri"/>
              </a:rPr>
              <a:t>📸  Instagram: @gminino</a:t>
            </a: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Calibri"/>
              </a:rPr>
              <a:t>𝕏  X (Twitter): @gminino</a:t>
            </a: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Calibri"/>
              </a:rPr>
              <a:t>▶  YouTube: @GuillermoMiniño</a:t>
            </a: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t/>
            </a:r>
            <a:endParaRPr sz="12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8A6A"/>
              </a:buClr>
              <a:buSzPts val="1100"/>
              <a:buFont typeface="Calibri"/>
              <a:buNone/>
            </a:pPr>
            <a:r>
              <a:rPr b="1" i="0" lang="en-US" sz="1200" u="none" cap="none" strike="noStrike">
                <a:solidFill>
                  <a:srgbClr val="5A8A6A"/>
                </a:solidFill>
                <a:latin typeface="Calibri"/>
                <a:ea typeface="Calibri"/>
                <a:cs typeface="Calibri"/>
                <a:sym typeface="Calibri"/>
              </a:rPr>
              <a:t>Metodología KNINORD  ·  50 años de experiencia  ·  Bonao, R.D.</a:t>
            </a:r>
            <a:endParaRPr b="1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